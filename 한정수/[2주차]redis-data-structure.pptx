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188720"/>
            <a:ext cx="548640" cy="0"/>
          </a:xfrm>
          <a:prstGeom prst="line">
            <a:avLst/>
          </a:prstGeom>
          <a:noFill/>
          <a:ln w="38100">
            <a:solidFill>
              <a:srgbClr val="DC3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개발자를 위한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 자료구조 &amp; 키 관리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Hash · Set 과 OAuth 2.0 인증 플로우 실전 적용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36576" cy="4572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4315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 · Backend Developer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4114800"/>
            <a:ext cx="36576" cy="4572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Key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다룰 내용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레디스의 자료구조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0208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Hash · Set 의 특징과 실무 활용 패턴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414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2532888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관리 명령어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27706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만료(TTL) · 탐색(KEYS/SCAN) · 삭제(DEL/UNLINK)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9125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71600" y="3282696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2369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활용 예시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5204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사이드 프로젝트의 OAuth 2.0 인증 플로우 시뮬레이션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410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371600" y="4032504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3986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 주의사항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270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 스레드 · 블로킹 커맨드 · UNLINK 활용 기준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0" cy="146304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레디스의 자료구조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Hash · Set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Redis가 제공하는 기본 자료구조의 특징과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Redis에서의 활용 패턴을 살펴봅니다.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CHAPTER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Redis가 제공하는 3가지 기본 자료구조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자료구조는 저장 단위와 연산 특성이 다릅니다. 목적에 맞게 선택하는 것이 Redis 활용의 시작점입니다.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2651760" cy="73152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6771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↔ Value 1:1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단순한 구조. 최대 512MB 문자열·바이너리·JSON 저장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41605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206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명령어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/ GET / DEL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55848" y="182880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55848" y="1828800"/>
            <a:ext cx="2651760" cy="73152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8" name="Shape 15"/>
          <p:cNvSpPr/>
          <p:nvPr/>
        </p:nvSpPr>
        <p:spPr>
          <a:xfrm>
            <a:off x="3630168" y="2103120"/>
            <a:ext cx="640080" cy="64008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267712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84448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584448" y="3273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↔ Field-Value Map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584448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키 아래 여러 필드. 객체 표현에 적합, 유연한 스키마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584448" y="41605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84448" y="4206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명령어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584448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/ HGET / HGETALL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63056" y="182880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63056" y="1828800"/>
            <a:ext cx="2651760" cy="73152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8" name="Shape 24"/>
          <p:cNvSpPr/>
          <p:nvPr/>
        </p:nvSpPr>
        <p:spPr>
          <a:xfrm>
            <a:off x="6437376" y="2103120"/>
            <a:ext cx="640080" cy="64008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267712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91656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6391656" y="3273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↔ Unique Items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391656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없는 유일 원소 집합. 교집합·합집합 연산 제공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391656" y="41605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91656" y="4206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명령어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391656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SADD / SMEMBERS / SISMEMBER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· 01 /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가장 단순한 자료구조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특징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512MB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문자열 데이터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바이너리 세이프 (이진 데이터 OK)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이미지, HTTP JSON 응답 등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↔ Value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매핑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String만이 갖는 유일한 특징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명령어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783080"/>
            <a:ext cx="3931920" cy="1280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783080"/>
            <a:ext cx="45720" cy="12801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8928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저장 · 조회 · 삭제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key value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key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key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사용 예 (JWKS 공개키 캐시)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3474720"/>
            <a:ext cx="393192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3474720"/>
            <a:ext cx="45720" cy="1188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35844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캐시 무효화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"oidc_public_keys::SimpleKey []"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캐시 수동 주입 (테스트용)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"oidc_public_keys::SimpleKey []" '...'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 + RedisCacheManager 키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</a:t>
            </a:r>
            <a:pPr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JWKS 공개키를 </a:t>
            </a:r>
            <a:pPr indent="0" marL="0">
              <a:buNone/>
            </a:pPr>
            <a:r>
              <a:rPr lang="en-US" sz="115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@Cacheable(cacheNames=OIDC_PUBLIC_KEYS)</a:t>
            </a:r>
            <a:pPr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캐싱하고, TTL 3일 동안 Redis에서 재사용합니다.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생성되는 키 구조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108960" cy="685800"/>
          </a:xfrm>
          <a:prstGeom prst="roundRect">
            <a:avLst>
              <a:gd name="adj" fmla="val 6667"/>
            </a:avLst>
          </a:prstGeom>
          <a:solidFill>
            <a:srgbClr val="DC38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oidc_public_keys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캐시 이름 (cacheNames)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5603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114800" y="2560320"/>
            <a:ext cx="3108960" cy="685800"/>
          </a:xfrm>
          <a:prstGeom prst="roundRect">
            <a:avLst>
              <a:gd name="adj" fmla="val 6667"/>
            </a:avLst>
          </a:prstGeom>
          <a:solidFill>
            <a:srgbClr val="14171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SimpleKey []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파라미터 기반 자동 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86200" y="3383280"/>
            <a:ext cx="0" cy="228600"/>
          </a:xfrm>
          <a:prstGeom prst="line">
            <a:avLst/>
          </a:prstGeom>
          <a:noFill/>
          <a:ln w="1905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703320"/>
            <a:ext cx="6675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0050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oidc_public_keys::SimpleKey []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920" y="3703320"/>
            <a:ext cx="1234440" cy="82296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40050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있으면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SimpleKey [값]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VALUE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 타입 힌트와 JSON 직렬화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@class 가 붙는가?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GenericJackson2JsonRedisSerializer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역직렬화 시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클래스로 복원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할지 알아야 하므로,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@class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필드를 JSON에 자동 주입합니다.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직접 작성하지 않습니다 — 직렬화 시 자동 삽입되는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힌트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3931920" cy="777240"/>
          </a:xfrm>
          <a:prstGeom prst="rect">
            <a:avLst/>
          </a:prstGeom>
          <a:solidFill>
            <a:srgbClr val="FEF3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97764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886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NON_FINAL 타이핑 정책 때문에 record·Serializable 구현 여부에 따라 @class 유무가 달라질 수 있습니다. 실제로는 GET 으로 직접 확인 필수.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6344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"oidc_public_keys::SimpleKey []"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737360"/>
            <a:ext cx="3931920" cy="29260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737360"/>
            <a:ext cx="45720" cy="29260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84708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"@class": "...dto.PublicKeysDto",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"keys": [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"java.util.ArrayList",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"@class": "...PublicKeysDto$JWK",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"kid": "3f9698038...",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"kty": "RSA",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"alg": "RS256",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"n": "q8y3...",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"e": "AQAB"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· 02 /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· 필드-값 쌍의 집합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구조 시각화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0233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4023360" cy="502920"/>
          </a:xfrm>
          <a:prstGeom prst="rect">
            <a:avLst/>
          </a:prstGeom>
          <a:solidFill>
            <a:srgbClr val="14171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</a:rPr>
              <a:t>HASH KEY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RefreshTokenEntity:12345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371600" cy="457200"/>
          </a:xfrm>
          <a:prstGeom prst="rect">
            <a:avLst/>
          </a:prstGeom>
          <a:solidFill>
            <a:srgbClr val="FCE4E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8840" y="265176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77440" y="2423160"/>
            <a:ext cx="2103120" cy="4572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2423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8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77440" y="25786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1371600" cy="457200"/>
          </a:xfrm>
          <a:prstGeom prst="rect">
            <a:avLst/>
          </a:prstGeom>
          <a:solidFill>
            <a:srgbClr val="FCE4E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refreshToken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370332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77440" y="3474720"/>
            <a:ext cx="2103120" cy="4572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2377440" y="34747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8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7440" y="363016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eyJhbGciOiJIUzI1NiJ9...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Hash의 특징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828800"/>
            <a:ext cx="274320" cy="2743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표현에 적합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테이블 ↔ Redis Hash 변환이 간편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274320" cy="2743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필드 추가 가능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칼럼이 고정된 RDB와 달리 유연함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291840"/>
            <a:ext cx="274320" cy="2743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단위 조회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HGET, HMGET, HGETALL 로 세밀한 접근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4023360"/>
            <a:ext cx="274320" cy="2743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@RedisHash 가 사용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4251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Redis의 기본 저장 구조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·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@RedisHash · OAuth 2.0 Refresh Token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5943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</a:t>
            </a:r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 → refreshToken 저장 · </a:t>
            </a:r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14일 (1,209,600초)</a:t>
            </a:r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로그인 시 저장 → 재발급 시 검증 후 교체(Rotation)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@RedisHash 엔티티 정의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931920" cy="22860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23160"/>
            <a:ext cx="45720" cy="22860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3288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@RedisHash(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"refresh_token",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timeToLive = 1209600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RefreshTokenEntity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String memberId;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String refreshToken;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시뮬레이션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3931920" cy="22860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2423160"/>
            <a:ext cx="45720" cy="22860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53288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로그인 → 저장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"RefreshTokenEntity:1" \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memberId "1" refreshToken "token_v1"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/token/refresh → 검증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 "RefreshTokenEntity:1" refreshToken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검증 통과 → 새 토큰 교체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"RefreshTokenEntity:1" \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refreshToken "token_v2"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· 03 /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· 유일 원소 집합 &amp; 내부 인덱스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기본 특징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정렬되지 않은 유일 문자열 집합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저장 불가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교집합·합집합·차집합 연산 제공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관계 계산, 유일 원소 추출에 적합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SISMEMBER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존재 여부 조회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6344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 내부 인덱싱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6344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@RedisHash </a:t>
            </a:r>
            <a:pPr indent="0" marL="0">
              <a:buNone/>
            </a:pPr>
            <a:r>
              <a:rPr lang="en-US" sz="11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쓰면 조회용 Set이 자동 생성됩니다.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2103120"/>
            <a:ext cx="3931920" cy="11430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103120"/>
            <a:ext cx="45720" cy="11430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21284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자동 생성된 인덱스 Set 조회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SMEMBERS "refresh_token"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"1"   2) "2"   3) "99999"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3440" y="3337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findAll() 동작 방식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3593592"/>
            <a:ext cx="3931920" cy="10972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0" y="3593592"/>
            <a:ext cx="45720" cy="10972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703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RedisKeyValueAdapter.put()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"refresh_token:1" ...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SADD "refresh_token" "1"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findAll() 내부 동작 · Set + Hash 협업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@RedisHash 의 전체 조회는 Set 인덱스에서 ID 목록을 받아 각 Hash를 순회 조회하는 2단계로 이뤄집니다.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14171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06040" y="2313432"/>
            <a:ext cx="457200" cy="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0604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92024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DC382D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C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INDEX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SMEMBERS "refresh_token"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2313432"/>
            <a:ext cx="457200" cy="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89788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C38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"1", "2", "99999"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743200"/>
            <a:ext cx="0" cy="45720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1148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각 ID마다 HGETALL 실행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37560"/>
            <a:ext cx="2651760" cy="45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HGETALL "refresh_token:1"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refreshToken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"token_xyz..."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3375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337560"/>
            <a:ext cx="2651760" cy="45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HGETALL "refresh_token:2"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refreshToken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"token_xyz..."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3375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337560"/>
            <a:ext cx="2651760" cy="45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HGETALL "refresh_token:99999"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"99999"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refreshToken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"token_xyz..."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0" cy="146304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레디스에서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키를 관리하는 법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시간(TTL), 탐색, 삭제 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환경에서 주의해야 할 키 관리 명령어를 다룹니다.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CHAPTER 03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관리 명령어 카테고리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관리 명령어는 용도에 따라 4가지 카테고리로 나뉩니다. 각 카테고리별 대표 명령과 특성을 파악해 두어야 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" cy="12801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762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011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관리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230428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 · TTL · PERSIST · EXPIREAT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키에 생명 주기를 부여하고 확인·해제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828800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828800"/>
            <a:ext cx="54864" cy="12801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0600" y="205740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17627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011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탐색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440680" y="230428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· SCAN · EXISTS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00600" y="26334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키를 찾거나 존재 여부 확인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246120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3246120"/>
            <a:ext cx="54864" cy="12801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9359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삭제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417320" y="37216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· UNLINK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77240" y="40507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 vs 비동기 삭제의 영향 차이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572000" y="3246120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0" y="3246120"/>
            <a:ext cx="54864" cy="12801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9" name="Shape 24"/>
          <p:cNvSpPr/>
          <p:nvPr/>
        </p:nvSpPr>
        <p:spPr>
          <a:xfrm>
            <a:off x="4800600" y="347472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59359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3429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확인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5440680" y="37216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800600" y="40507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키에 저장된 자료구조 타입 반환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·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시간 관리 · TTL 기반 캐시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명령어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9072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명령어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EXPIRE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6"/>
                          </a:solidFill>
                        </a:rPr>
                        <a:t>키 만료 시간(초) 설정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TTL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6"/>
                          </a:solidFill>
                        </a:rPr>
                        <a:t>남은 초 반환 · -1 영구 · -2 없음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EXPIRETIME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6"/>
                          </a:solidFill>
                        </a:rPr>
                        <a:t>만료 유닉스 타임스탬프 반환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6"/>
                          </a:solidFill>
                        </a:rPr>
                        <a:t>TTL 제거 → 영구 키로 전환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EXPIREAT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6"/>
                          </a:solidFill>
                        </a:rPr>
                        <a:t>특정 유닉스 시각에 만료</a:t>
                      </a:r>
                      <a:endParaRPr lang="en-US" sz="10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3931920" cy="50292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382D"/>
                </a:solidFill>
              </a:rPr>
              <a:t>OPTIONS  </a:t>
            </a:r>
            <a:pPr indent="0" marL="0">
              <a:buNone/>
            </a:pPr>
            <a:r>
              <a:rPr lang="en-US" sz="10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 </a:t>
            </a:r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</a:rPr>
              <a:t>미설정시 / </a:t>
            </a:r>
            <a:pPr indent="0" marL="0">
              <a:buNone/>
            </a:pPr>
            <a:r>
              <a:rPr lang="en-US" sz="10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 </a:t>
            </a:r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</a:rPr>
              <a:t>설정시 / </a:t>
            </a:r>
            <a:pPr indent="0" marL="0">
              <a:buNone/>
            </a:pPr>
            <a:r>
              <a:rPr lang="en-US" sz="10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 </a:t>
            </a:r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</a:rPr>
              <a:t>크면 / </a:t>
            </a:r>
            <a:pPr indent="0" marL="0">
              <a:buNone/>
            </a:pPr>
            <a:r>
              <a:rPr lang="en-US" sz="10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 </a:t>
            </a:r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</a:rPr>
              <a:t>작으면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634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사이드 프로젝트 TTL 전략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719072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719072"/>
            <a:ext cx="54864" cy="123444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8562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 ·  14일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1,209,600초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세션 유지와 보안을 위한 만료 설정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310896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63440" y="3108960"/>
            <a:ext cx="54864" cy="123444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46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3218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공개키  ·  3일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3584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259,200초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46320" y="3858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키 교체 주기를 감안한 캐시 유효기간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·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vs SCAN · 운영 환경 블로킹 이슈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1732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82D"/>
                </a:solidFill>
              </a:rPr>
              <a:t>Redis는 싱글 스레드</a:t>
            </a:r>
            <a:pPr indent="0" marL="0">
              <a:buNone/>
            </a:pPr>
            <a:r>
              <a:rPr lang="en-US" sz="1200" dirty="0">
                <a:solidFill>
                  <a:srgbClr val="1A1F26"/>
                </a:solidFill>
              </a:rPr>
              <a:t> 이므로 오래 걸리는 명령 실행 중엔 </a:t>
            </a:r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</a:rPr>
              <a:t>다른 모든 요청이 대기</a:t>
            </a:r>
            <a:pPr indent="0" marL="0">
              <a:buNone/>
            </a:pPr>
            <a:r>
              <a:rPr lang="en-US" sz="1200" dirty="0">
                <a:solidFill>
                  <a:srgbClr val="1A1F26"/>
                </a:solidFill>
              </a:rPr>
              <a:t>합니다. 모니터링 health check 실패로 </a:t>
            </a:r>
            <a:pPr indent="0" marL="0">
              <a:buNone/>
            </a:pPr>
            <a:r>
              <a:rPr lang="en-US" sz="1200" b="1" dirty="0">
                <a:solidFill>
                  <a:srgbClr val="DC382D"/>
                </a:solidFill>
              </a:rPr>
              <a:t>의도치 않은 페일오버</a:t>
            </a:r>
            <a:pPr indent="0" marL="0">
              <a:buNone/>
            </a:pPr>
            <a:r>
              <a:rPr lang="en-US" sz="1200" dirty="0">
                <a:solidFill>
                  <a:srgbClr val="1A1F26"/>
                </a:solidFill>
              </a:rPr>
              <a:t>까지 발생할 수 있습니다.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240280"/>
            <a:ext cx="3931920" cy="4114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KEYS  ·  전체 조회 (위험)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3566160" cy="731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788920"/>
            <a:ext cx="45720" cy="7315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898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*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"refresh_token:*"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100만 개 키라면 100만 개 모두 반환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 중 모든 set/get이 대기열에 적재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개발·디버깅 목적에 한해 사용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224028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240280"/>
            <a:ext cx="3931920" cy="411480"/>
          </a:xfrm>
          <a:prstGeom prst="rect">
            <a:avLst/>
          </a:prstGeom>
          <a:solidFill>
            <a:srgbClr val="14171C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  ·  커서 기반 (안전)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46320" y="2788920"/>
            <a:ext cx="3566160" cy="731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46320" y="2788920"/>
            <a:ext cx="45720" cy="7315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2898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0 MATCH "refresh_token:*" \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COUNT 100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4632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지정한 개수(~10개) 단위 반복 조회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커서가 0이 될 때까지 반복 호출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SSCAN · HSCAN · ZSCAN 대체재 존재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· 커서 기반 반복 조회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은 커서(cursor)를 넘겨가며 일부씩 조회합니다. 커서가 0으로 돌아오면 한 바퀴 순회가 끝난 것입니다.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" cy="13258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</a:t>
            </a:r>
            <a:pPr indent="0" marL="0">
              <a:buNone/>
            </a:pPr>
            <a:r>
              <a:rPr lang="en-US" sz="18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커서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651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 키 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8288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828800"/>
            <a:ext cx="54864" cy="1325880"/>
          </a:xfrm>
          <a:prstGeom prst="rect">
            <a:avLst/>
          </a:prstGeom>
          <a:solidFill>
            <a:srgbClr val="14171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</a:t>
            </a:r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커서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0760" y="2651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880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 키 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8076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487168"/>
            <a:ext cx="137160" cy="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337560"/>
            <a:ext cx="8046720" cy="132588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337560"/>
            <a:ext cx="54864" cy="132588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3456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· TYPE 옵션의 동작 특성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97280" y="376732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스캔 → 반환 직전 필터링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한 번의 호출에서 원하는 값이 반환되지 않거나 빈 배열이 반환될 수 있습니다.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결과가 커서 순회 동안 분산되어 나타날 수 있으므로,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커서가 0이 될 때까지 반복해야 완전한 결과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얻습니다.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·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&amp; TYPE · 키 확인 명령어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· 존재 여부 확인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키가 존재하면 </a:t>
            </a:r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없으면 </a:t>
            </a:r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을 반환합니다.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347472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468880"/>
            <a:ext cx="45720" cy="1188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257860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재발급 차단 로직 근거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 "refresh_token:1"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→ JWT_REFRESH_NOT_FOUND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예외 발생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" y="3794760"/>
            <a:ext cx="3474720" cy="68580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794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</a:t>
            </a:r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후 Refresh Token 재발급 시도를 서버 단에서 거부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463040"/>
            <a:ext cx="54864" cy="31089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4592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· 자료구조 확인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89204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지정한 키의 자료구조 타입을 반환합니다.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92040" y="2468880"/>
            <a:ext cx="3474720" cy="20116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Shape 17"/>
          <p:cNvSpPr/>
          <p:nvPr/>
        </p:nvSpPr>
        <p:spPr>
          <a:xfrm>
            <a:off x="4892040" y="2468880"/>
            <a:ext cx="45720" cy="20116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2" name="Text 18"/>
          <p:cNvSpPr/>
          <p:nvPr/>
        </p:nvSpPr>
        <p:spPr>
          <a:xfrm>
            <a:off x="5074920" y="2578608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"refresh_token:1"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hash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"oidc_public_keys::..."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string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"refresh_token"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set  (인덱스 컬렉션)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·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vs UNLINK · 동기 vs 비동기 삭제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38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UNLINK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6B7280"/>
                          </a:solidFill>
                        </a:rPr>
                        <a:t>처리 방식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동기 (메인 스레드 점유)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비동기 (별도 스레드)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6B7280"/>
                          </a:solidFill>
                        </a:rPr>
                        <a:t>동작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키·데이터 즉시 삭제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키 연결 해제 + 백그라운드 정리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6B7280"/>
                          </a:solidFill>
                        </a:rPr>
                        <a:t>대용량 키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382D"/>
                          </a:solidFill>
                        </a:rPr>
                        <a:t>블로킹 위험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26"/>
                          </a:solidFill>
                        </a:rPr>
                        <a:t>안전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6B7280"/>
                          </a:solidFill>
                        </a:rPr>
                        <a:t>권장 상황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작은 키의 단순 삭제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다량 아이템 Hash/Set/ZSet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069080"/>
            <a:ext cx="54864" cy="5943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06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4069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팁  </a:t>
            </a:r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lazyfree-lazy-user-del = yes</a:t>
            </a:r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설정 시 모든 DEL 이 UNLINK 처럼 백그라운드로 동작. </a:t>
            </a:r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7 기준 기본값은 no</a:t>
            </a:r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0" cy="146304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활용 예시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인증 플로우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다룬 자료구조와 명령어가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카카오 소셜 로그인에 어떻게 쓰이는지 살펴봅니다.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CHAPTER 03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소셜 로그인 인증 플로우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로그인부터 로그아웃까지 Redis가 관여하는 5단계 흐름과 각 단계의 핵심 명령어입니다.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91540" y="2286000"/>
            <a:ext cx="0" cy="100584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25880" y="1783080"/>
            <a:ext cx="7269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성공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874520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+ EXPIRE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874520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저장 · TTL 14일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386584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1540" y="2889504"/>
            <a:ext cx="0" cy="100584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325880" y="2386584"/>
            <a:ext cx="7269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23865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공개키 캐시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11880" y="2478024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+ EXPIRE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478024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조회 후 3일간 재사용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990088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1540" y="3493008"/>
            <a:ext cx="0" cy="100584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325880" y="2990088"/>
            <a:ext cx="7269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29900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재발급 요청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11880" y="3081528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990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HGETALL → HGET → HSET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081528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검증 · 새 토큰 교체 (Rotation)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3593592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91540" y="4096512"/>
            <a:ext cx="0" cy="100584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325880" y="3593592"/>
            <a:ext cx="7269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35935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11880" y="3685032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593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3685032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5935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키 즉시 무효화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4197096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325880" y="4197096"/>
            <a:ext cx="7269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63040" y="41970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후 재발급 시도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11880" y="4288536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4197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 → 0 → 예외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35040" y="4288536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41970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JWT_REFRESH_NOT_FOUND_IN_REDIS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SIMULATION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 로 재현하는 인증 플로우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+ 캐시 저장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931920" cy="3017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45720" cy="30175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01368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· Refresh Token 저장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"RefreshTokenEntity:member_1"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memberId "member_1"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refreshToken "refresh_abc123"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 "RefreshTokenEntity:member_1"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1209600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· OIDC 공개키 캐시 (TTL 3일)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"oidc_public_keys::SimpleKey []"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'{"keys":[...]}'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 "oidc_public_keys::SimpleKey []"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259200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재발급 → 로그아웃 → 재시도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31920" cy="3017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691640"/>
            <a:ext cx="45720" cy="30175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01368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· 토큰 재발급 (Rotation)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HGETALL "RefreshTokenEntity:member_1"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 "RefreshTokenEntity:member_1"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refreshToken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"RefreshTokenEntity:member_1"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refreshToken "refresh_xyz789"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 · 로그아웃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"RefreshTokenEntity:member_1"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 · 만료 후 재발급 시도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 "RefreshTokenEntity:member_1"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0 → JWT_REFRESH_NOT_FOUND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자료구조는 목적으로 선택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String은 단일값·바이너리 캐시, Hash는 객체 표현, Set은 유일성·집합연산. @RedisHash는 내부적으로 Hash + Set 조합으로 동작합니다.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40680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@class는 자동 타입 힌트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0680" y="21305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GenericJackson2JsonRedisSerializer가 JSON 복원을 위해 삽입합니다. record/Serializable 여부에 따라 달라질 수 있으니 실제 GET으로 확인이 필수입니다.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는 프로덕션 금지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93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Redis는 싱글 스레드. 100만 키 순회 동안 모든 요청이 대기합니다. 운영에서는 반드시 SCAN을 커서 0이 될 때까지 반복 호출하세요.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4068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키는 UNLINK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3593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DEL은 동기, UNLINK는 비동기 삭제. Hash/Set/ZSet처럼 아이템 많은 키는 UNLINK로, 또는 lazyfree-lazy-user-del=yes 설정을 활용하세요.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2743200" cy="0"/>
          </a:xfrm>
          <a:prstGeom prst="line">
            <a:avLst/>
          </a:prstGeom>
          <a:noFill/>
          <a:ln w="12700">
            <a:solidFill>
              <a:srgbClr val="DC38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개발자를 위한 레디스 - 3장 정리 및 실습</dc:title>
  <dc:subject>PptxGenJS Presentation</dc:subject>
  <dc:creator>정수</dc:creator>
  <cp:lastModifiedBy>정수</cp:lastModifiedBy>
  <cp:revision>1</cp:revision>
  <dcterms:created xsi:type="dcterms:W3CDTF">2026-04-22T14:48:47Z</dcterms:created>
  <dcterms:modified xsi:type="dcterms:W3CDTF">2026-04-22T14:48:47Z</dcterms:modified>
</cp:coreProperties>
</file>